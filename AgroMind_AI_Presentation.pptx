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83455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AgroMind AI Project Presentation - Diploma Final Year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8288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AGROMIND AI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0" y="292608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Intelligent Agricultural Analysis &amp; Crop Recommendation Platform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0" y="41148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Presented By: Shubham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The Problem Statement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320040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marL="342900" indent="-342900">
              <a:lnSpc>
                <a:spcPts val="3500"/>
              </a:lnSpc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farming relies on generational guesswork rather than empirical data.</a:t>
            </a:r>
            <a:endParaRPr lang="en-US" sz="2200" dirty="0"/>
          </a:p>
          <a:p>
            <a:pPr marL="342900" indent="-342900">
              <a:lnSpc>
                <a:spcPts val="3500"/>
              </a:lnSpc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Consulting expert agronomists and utilizing soil laboratories is slow and expensive.</a:t>
            </a:r>
            <a:endParaRPr lang="en-US" sz="2200" dirty="0"/>
          </a:p>
          <a:p>
            <a:pPr marL="342900" indent="-342900">
              <a:lnSpc>
                <a:spcPts val="3500"/>
              </a:lnSpc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Farmers lack real-time, localized insights into critical soil chemistry (Nitrogen, pH).</a:t>
            </a:r>
            <a:endParaRPr lang="en-US" sz="2200" dirty="0"/>
          </a:p>
          <a:p>
            <a:pPr marL="342900" indent="-342900">
              <a:lnSpc>
                <a:spcPts val="3500"/>
              </a:lnSpc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Crop diseases spread rapidly before they are accurately diagnosed, leading to massive yield losses.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The Solution: AgroMind AI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320040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marL="342900" indent="-342900">
              <a:lnSpc>
                <a:spcPts val="3500"/>
              </a:lnSpc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cloud-based, multimodal AI platform acting as a hyper-intelligent virtual agronomist.</a:t>
            </a:r>
            <a:endParaRPr lang="en-US" sz="2200" dirty="0"/>
          </a:p>
          <a:p>
            <a:pPr marL="342900" indent="-342900">
              <a:lnSpc>
                <a:spcPts val="3500"/>
              </a:lnSpc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Requires zero manual data entry: farmers only need a smartphone camera and GPS location.</a:t>
            </a:r>
            <a:endParaRPr lang="en-US" sz="2200" dirty="0"/>
          </a:p>
          <a:p>
            <a:pPr marL="342900" indent="-342900">
              <a:lnSpc>
                <a:spcPts val="3500"/>
              </a:lnSpc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Generates exhaustive crop, soil, and financial analysis in under 30 seconds.</a:t>
            </a:r>
            <a:endParaRPr lang="en-US" sz="2200" dirty="0"/>
          </a:p>
          <a:p>
            <a:pPr marL="342900" indent="-342900">
              <a:lnSpc>
                <a:spcPts val="3500"/>
              </a:lnSpc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Democratizes precision agriculture, empowering smallholder farmers globally.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Core Platform Features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320040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marL="342900" indent="-342900">
              <a:lnSpc>
                <a:spcPts val="3500"/>
              </a:lnSpc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Multimodal Visual Analysis: AI interprets crop health and soil dryness directly from images.</a:t>
            </a:r>
            <a:endParaRPr lang="en-US" sz="2200" dirty="0"/>
          </a:p>
          <a:p>
            <a:pPr marL="342900" indent="-342900">
              <a:lnSpc>
                <a:spcPts val="3500"/>
              </a:lnSpc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Contextual Aggregation: Automatically pulls live weather and subterranean soil baselines.</a:t>
            </a:r>
            <a:endParaRPr lang="en-US" sz="2200" dirty="0"/>
          </a:p>
          <a:p>
            <a:pPr marL="342900" indent="-342900">
              <a:lnSpc>
                <a:spcPts val="3500"/>
              </a:lnSpc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Forecasting: Dynamically calculates expected crop yields and profit margins.</a:t>
            </a:r>
            <a:endParaRPr lang="en-US" sz="2200" dirty="0"/>
          </a:p>
          <a:p>
            <a:pPr marL="342900" indent="-342900">
              <a:lnSpc>
                <a:spcPts val="3500"/>
              </a:lnSpc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Reporting: Custom engine dynamically generates paginated, styled PDF reports.</a:t>
            </a:r>
            <a:endParaRPr lang="en-US" sz="2200" dirty="0"/>
          </a:p>
          <a:p>
            <a:pPr marL="342900" indent="-342900">
              <a:lnSpc>
                <a:spcPts val="3500"/>
              </a:lnSpc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 Email Delivery: Dispatches the final reports directly to the user offline.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Modern Technology Stack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320040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marL="342900" indent="-342900">
              <a:lnSpc>
                <a:spcPts val="3500"/>
              </a:lnSpc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Frontend: Built on Next.js 14 and React 18 for high performance.</a:t>
            </a:r>
            <a:endParaRPr lang="en-US" sz="2200" dirty="0"/>
          </a:p>
          <a:p>
            <a:pPr marL="342900" indent="-342900">
              <a:lnSpc>
                <a:spcPts val="3500"/>
              </a:lnSpc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Styling: Tailwind CSS ensures a responsive, mobile-first design for on-field usage.</a:t>
            </a:r>
            <a:endParaRPr lang="en-US" sz="2200" dirty="0"/>
          </a:p>
          <a:p>
            <a:pPr marL="342900" indent="-342900">
              <a:lnSpc>
                <a:spcPts val="3500"/>
              </a:lnSpc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Backend: Next.js Serverless API Routes and Edge Functions for massive scalability.</a:t>
            </a:r>
            <a:endParaRPr lang="en-US" sz="2200" dirty="0"/>
          </a:p>
          <a:p>
            <a:pPr marL="342900" indent="-342900">
              <a:lnSpc>
                <a:spcPts val="3500"/>
              </a:lnSpc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&amp; Auth: Supabase (PostgreSQL) handles secure data persistence and Row Level Security.</a:t>
            </a:r>
            <a:endParaRPr lang="en-US" sz="2200" dirty="0"/>
          </a:p>
          <a:p>
            <a:pPr marL="342900" indent="-342900">
              <a:lnSpc>
                <a:spcPts val="3500"/>
              </a:lnSpc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Utilities: pdf-lib (PDF generation) and NodeMailer (SMTP Email dispatch).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Third-Party API Integrations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320040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marL="342900" indent="-342900">
              <a:lnSpc>
                <a:spcPts val="3500"/>
              </a:lnSpc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Gemini 2.5 Flash: The core generative vision-language AI model.</a:t>
            </a:r>
            <a:endParaRPr lang="en-US" sz="2200" dirty="0"/>
          </a:p>
          <a:p>
            <a:pPr marL="342900" indent="-342900">
              <a:lnSpc>
                <a:spcPts val="3500"/>
              </a:lnSpc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Nominatim (OpenStreetMap): Reverse geocoding to translate GPS into village and district names.</a:t>
            </a:r>
            <a:endParaRPr lang="en-US" sz="2200" dirty="0"/>
          </a:p>
          <a:p>
            <a:pPr marL="342900" indent="-342900">
              <a:lnSpc>
                <a:spcPts val="3500"/>
              </a:lnSpc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Open-Meteo: Fetches real-time meteorological forecasting and 7-day rainfall averages.</a:t>
            </a:r>
            <a:endParaRPr lang="en-US" sz="2200" dirty="0"/>
          </a:p>
          <a:p>
            <a:pPr marL="342900" indent="-342900">
              <a:lnSpc>
                <a:spcPts val="3500"/>
              </a:lnSpc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ISRIC SoilGrids: High-resolution spatial REST API for extracting Soil pH and Nitrogen levels.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System Architecture &amp; Workflow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320040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marL="342900" indent="-342900">
              <a:lnSpc>
                <a:spcPts val="3500"/>
              </a:lnSpc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uploads a farm image and grants browser GPS permissions.</a:t>
            </a:r>
            <a:endParaRPr lang="en-US" sz="2200" dirty="0"/>
          </a:p>
          <a:p>
            <a:pPr marL="342900" indent="-342900">
              <a:lnSpc>
                <a:spcPts val="3500"/>
              </a:lnSpc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parallelizes requests to Nominatim, Open-Meteo, and SoilGrids.</a:t>
            </a:r>
            <a:endParaRPr lang="en-US" sz="2200" dirty="0"/>
          </a:p>
          <a:p>
            <a:pPr marL="342900" indent="-342900">
              <a:lnSpc>
                <a:spcPts val="3500"/>
              </a:lnSpc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Aggregated context + image is injected into a strict prompt and sent to Gemini 2.5 Flash.</a:t>
            </a:r>
            <a:endParaRPr lang="en-US" sz="2200" dirty="0"/>
          </a:p>
          <a:p>
            <a:pPr marL="342900" indent="-342900">
              <a:lnSpc>
                <a:spcPts val="3500"/>
              </a:lnSpc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returns a structured JSON recommendation matrix containing health scores and plans.</a:t>
            </a:r>
            <a:endParaRPr lang="en-US" sz="2200" dirty="0"/>
          </a:p>
          <a:p>
            <a:pPr marL="342900" indent="-342900">
              <a:lnSpc>
                <a:spcPts val="3500"/>
              </a:lnSpc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is securely persisted into the Supabase database.</a:t>
            </a:r>
            <a:endParaRPr lang="en-US" sz="2200" dirty="0"/>
          </a:p>
          <a:p>
            <a:pPr marL="342900" indent="-342900">
              <a:lnSpc>
                <a:spcPts val="3500"/>
              </a:lnSpc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 is dynamically rendered in memory and instantly emailed to the user.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The Intelligence Engine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320040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marL="342900" indent="-342900">
              <a:lnSpc>
                <a:spcPts val="3500"/>
              </a:lnSpc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Utilizes Multimodal processing, synthesizing visual pixels with textual API context.</a:t>
            </a:r>
            <a:endParaRPr lang="en-US" sz="2200" dirty="0"/>
          </a:p>
          <a:p>
            <a:pPr marL="342900" indent="-342900">
              <a:lnSpc>
                <a:spcPts val="3500"/>
              </a:lnSpc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Prompt explicitly forces the AI into an "Expert Agronomist" persona.</a:t>
            </a:r>
            <a:endParaRPr lang="en-US" sz="2200" dirty="0"/>
          </a:p>
          <a:p>
            <a:pPr marL="342900" indent="-342900">
              <a:lnSpc>
                <a:spcPts val="3500"/>
              </a:lnSpc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Cross-references visual leaf anomalies against localized weather history to diagnose blight.</a:t>
            </a:r>
            <a:endParaRPr lang="en-US" sz="2200" dirty="0"/>
          </a:p>
          <a:p>
            <a:pPr marL="342900" indent="-342900">
              <a:lnSpc>
                <a:spcPts val="3500"/>
              </a:lnSpc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Generates highly structured, predictable JSON outputs to feed the frontend UI.</a:t>
            </a:r>
            <a:endParaRPr lang="en-US" sz="2200" dirty="0"/>
          </a:p>
          <a:p>
            <a:pPr marL="342900" indent="-342900">
              <a:lnSpc>
                <a:spcPts val="3500"/>
              </a:lnSpc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Rigid grounding in API data severely reduces AI hallucination risk.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Key Engineering Achievements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320040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marL="342900" indent="-342900">
              <a:lnSpc>
                <a:spcPts val="3500"/>
              </a:lnSpc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 Edge Compatibility: Overcame strict filesystem limits by rendering PDFs completely in-memory.</a:t>
            </a:r>
            <a:endParaRPr lang="en-US" sz="2200" dirty="0"/>
          </a:p>
          <a:p>
            <a:pPr marL="342900" indent="-342900">
              <a:lnSpc>
                <a:spcPts val="3500"/>
              </a:lnSpc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Timeout Mitigation: Engineered the Next.js routes to robustly handle heavy 60s AI payloads.</a:t>
            </a:r>
            <a:endParaRPr lang="en-US" sz="2200" dirty="0"/>
          </a:p>
          <a:p>
            <a:pPr marL="342900" indent="-342900">
              <a:lnSpc>
                <a:spcPts val="3500"/>
              </a:lnSpc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Pagination Engine: Built a proprietary text-wrapping algorithm for dynamic PDF text.</a:t>
            </a:r>
            <a:endParaRPr lang="en-US" sz="2200" dirty="0"/>
          </a:p>
          <a:p>
            <a:pPr marL="342900" indent="-342900">
              <a:lnSpc>
                <a:spcPts val="3500"/>
              </a:lnSpc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Frictionless UX: Designed a highly intuitive interface accessible to non-technical users.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 Conclusion &amp; Future Scope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320040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marL="342900" indent="-342900">
              <a:lnSpc>
                <a:spcPts val="3500"/>
              </a:lnSpc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Conclusion: AgroMind AI successfully proves that high-end agricultural intelligence can be accessible.</a:t>
            </a:r>
            <a:endParaRPr lang="en-US" sz="2200" dirty="0"/>
          </a:p>
          <a:p>
            <a:pPr marL="342900" indent="-342900">
              <a:lnSpc>
                <a:spcPts val="3500"/>
              </a:lnSpc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Scope 1: Integration with physical IoT soil moisture sensors for live telemetry.</a:t>
            </a:r>
            <a:endParaRPr lang="en-US" sz="2200" dirty="0"/>
          </a:p>
          <a:p>
            <a:pPr marL="342900" indent="-342900">
              <a:lnSpc>
                <a:spcPts val="3500"/>
              </a:lnSpc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Scope 2: Multilingual voice-to-text interface (Hindi, Marathi) for rural accessibility.</a:t>
            </a:r>
            <a:endParaRPr lang="en-US" sz="2200" dirty="0"/>
          </a:p>
          <a:p>
            <a:pPr marL="342900" indent="-342900">
              <a:lnSpc>
                <a:spcPts val="3500"/>
              </a:lnSpc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Scope 3: Satellite imagery (NDVI) integration for macro-scale farm analysis.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2026-06-03T07:29:41Z</dcterms:created>
  <dcterms:modified xsi:type="dcterms:W3CDTF">2026-06-03T07:29:41Z</dcterms:modified>
</cp:coreProperties>
</file>